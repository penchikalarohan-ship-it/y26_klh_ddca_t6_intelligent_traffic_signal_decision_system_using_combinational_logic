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.Revanth Kumar" userId="c20f95996057c6ca" providerId="LiveId" clId="{AC870BC5-9FA7-426D-8360-6523A5DDA0A9}"/>
    <pc:docChg chg="custSel modSld">
      <pc:chgData name="B.Revanth Kumar" userId="c20f95996057c6ca" providerId="LiveId" clId="{AC870BC5-9FA7-426D-8360-6523A5DDA0A9}" dt="2026-09-19T09:12:48.739" v="1" actId="931"/>
      <pc:docMkLst>
        <pc:docMk/>
      </pc:docMkLst>
      <pc:sldChg chg="addSp delSp modSp mod">
        <pc:chgData name="B.Revanth Kumar" userId="c20f95996057c6ca" providerId="LiveId" clId="{AC870BC5-9FA7-426D-8360-6523A5DDA0A9}" dt="2026-09-19T09:12:48.739" v="1" actId="931"/>
        <pc:sldMkLst>
          <pc:docMk/>
          <pc:sldMk cId="3341574972" sldId="265"/>
        </pc:sldMkLst>
        <pc:picChg chg="del">
          <ac:chgData name="B.Revanth Kumar" userId="c20f95996057c6ca" providerId="LiveId" clId="{AC870BC5-9FA7-426D-8360-6523A5DDA0A9}" dt="2026-09-19T09:12:38.862" v="0" actId="478"/>
          <ac:picMkLst>
            <pc:docMk/>
            <pc:sldMk cId="3341574972" sldId="265"/>
            <ac:picMk id="3" creationId="{71F5F053-AC74-5636-D1D4-367C2F54FBA8}"/>
          </ac:picMkLst>
        </pc:picChg>
        <pc:picChg chg="add mod">
          <ac:chgData name="B.Revanth Kumar" userId="c20f95996057c6ca" providerId="LiveId" clId="{AC870BC5-9FA7-426D-8360-6523A5DDA0A9}" dt="2026-09-19T09:12:48.739" v="1" actId="931"/>
          <ac:picMkLst>
            <pc:docMk/>
            <pc:sldMk cId="3341574972" sldId="265"/>
            <ac:picMk id="4" creationId="{F62047F6-CB26-31DC-2787-B11A71DEFD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7.pn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3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2" Type="http://schemas.openxmlformats.org/officeDocument/2006/relationships/image" Target="../media/image11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7.png"/><Relationship Id="rId7" Type="http://schemas.openxmlformats.org/officeDocument/2006/relationships/image" Target="../media/image7.png"/><Relationship Id="rId12" Type="http://schemas.openxmlformats.org/officeDocument/2006/relationships/image" Target="../media/image5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7.png"/><Relationship Id="rId4" Type="http://schemas.openxmlformats.org/officeDocument/2006/relationships/image" Target="../media/image61.png"/><Relationship Id="rId9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6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7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0" Type="http://schemas.openxmlformats.org/officeDocument/2006/relationships/image" Target="../media/image81.png"/><Relationship Id="rId4" Type="http://schemas.openxmlformats.org/officeDocument/2006/relationships/image" Target="../media/image76.png"/><Relationship Id="rId9" Type="http://schemas.openxmlformats.org/officeDocument/2006/relationships/image" Target="../media/image7.png"/><Relationship Id="rId14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523107"/>
            <a:ext cx="2595562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506092"/>
            <a:ext cx="6503640" cy="1828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940" y="5072062"/>
            <a:ext cx="4316759" cy="6334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72817"/>
            <a:ext cx="3004095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5145" y="3972817"/>
            <a:ext cx="3004244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91917"/>
            <a:ext cx="3004095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5145" y="4391917"/>
            <a:ext cx="3004244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811017"/>
            <a:ext cx="610359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4725" y="6515100"/>
            <a:ext cx="571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 of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" y="1961257"/>
            <a:ext cx="6828822" cy="868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sz="2850" b="0" i="0" u="none">
                <a:solidFill>
                  <a:srgbClr val="FFFFFF"/>
                </a:solidFill>
                <a:latin typeface="Poppins ExtraBold"/>
              </a:rPr>
              <a:t>Design &amp; Simulation of an Intelligent Traffic Signal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2963167"/>
            <a:ext cx="650364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Implementing Decision Logic using Pure Combinational Circuits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9940" y="1152525"/>
            <a:ext cx="4316759" cy="4552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1604069"/>
            <a:ext cx="128587" cy="123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3925" y="3706117"/>
            <a:ext cx="586546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PROJECT TEAM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2340" y="5224462"/>
            <a:ext cx="401195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8BDF8"/>
                </a:solidFill>
                <a:latin typeface="Inter SemiBold"/>
              </a:rPr>
              <a:t>DEPARTMENT OF COMPUTER SCIENCE &amp;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2340" y="5395912"/>
            <a:ext cx="4011959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Inter"/>
              </a:rPr>
              <a:t>1st Year / 1st Semester Academic Evaluation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720405"/>
            <a:ext cx="161925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9625" y="4063305"/>
            <a:ext cx="74309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monospace SemiBold"/>
              </a:rPr>
              <a:t>2620030100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7973" y="4058542"/>
            <a:ext cx="1057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B. Revanth Kumar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8970" y="4063305"/>
            <a:ext cx="74309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monospace SemiBold"/>
              </a:rPr>
              <a:t>2620030090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7319" y="4058542"/>
            <a:ext cx="5238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P. Rohan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482405"/>
            <a:ext cx="74309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monospace SemiBold"/>
              </a:rPr>
              <a:t>2620080077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7973" y="4477642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Jaya Haasika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8970" y="4482405"/>
            <a:ext cx="74309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monospace SemiBold"/>
              </a:rPr>
              <a:t>2620030046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7319" y="4477642"/>
            <a:ext cx="361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Eshha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4901505"/>
            <a:ext cx="743098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0B981"/>
                </a:solidFill>
                <a:latin typeface="monospace SemiBold"/>
              </a:rPr>
              <a:t>2620030407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7973" y="4896742"/>
            <a:ext cx="5810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Chaitanya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38400"/>
            <a:ext cx="5467350" cy="1852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481512"/>
            <a:ext cx="5467350" cy="652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143125"/>
            <a:ext cx="5467350" cy="2000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333875"/>
            <a:ext cx="2657475" cy="1095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8750" y="4333875"/>
            <a:ext cx="2657475" cy="1095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5675" y="6515100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2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2676525"/>
            <a:ext cx="4980622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Inter"/>
              </a:rPr>
              <a:t>Urban Traffic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2971800"/>
            <a:ext cx="49911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Conventional traffic signals rely on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fixed-time delays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 regardless of real-time road occupancy. This creates unnecessary waiting times at empty roads and severe bottlenecks on heavily congested lanes.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3667125"/>
            <a:ext cx="49911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An intelligent system dynamically evaluates vehicle presence using road sensors and provides real-time signal decision making.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4614862"/>
            <a:ext cx="5086350" cy="385762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E2E8F0"/>
                </a:solidFill>
                <a:latin typeface="Inter"/>
              </a:rPr>
              <a:t>Core Objective:</a:t>
            </a:r>
            <a:r>
              <a:rPr sz="1012" b="0" i="0" u="none">
                <a:solidFill>
                  <a:srgbClr val="E2E8F0"/>
                </a:solidFill>
                <a:latin typeface="Inter Medium"/>
              </a:rPr>
              <a:t> "The system automatically adjusts signal decisions in real-time according to instantaneous traffic conditions using digital logic."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152650"/>
            <a:ext cx="5448300" cy="1981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690812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4652962"/>
            <a:ext cx="114300" cy="12858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19850" y="4514850"/>
            <a:ext cx="2410301" cy="1619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7171"/>
                </a:solidFill>
                <a:latin typeface="Inter"/>
              </a:rPr>
              <a:t>Fixed Timer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4733925"/>
            <a:ext cx="22955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Ignores actual vehicle presence; causes high idle delay and wasted throughput.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9725" y="4514850"/>
            <a:ext cx="2410301" cy="1619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Inter"/>
              </a:rPr>
              <a:t>Decision-Based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9725" y="4733925"/>
            <a:ext cx="22955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BD5E1"/>
                </a:solidFill>
                <a:latin typeface="Inter"/>
              </a:rPr>
              <a:t>Uses combinational boolean logic to immediate trigger green signals for active lanes.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4533900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29725" y="4533900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5775" y="428625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Introduction &amp; Motivation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775" y="91440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90477"/>
            <a:ext cx="4929187" cy="27914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4357985"/>
            <a:ext cx="4452937" cy="5857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662" y="2390477"/>
            <a:ext cx="2945606" cy="13290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0618" y="2390477"/>
            <a:ext cx="2945606" cy="13290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1662" y="3852862"/>
            <a:ext cx="2945606" cy="13290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0618" y="3852862"/>
            <a:ext cx="2945606" cy="132903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15675" y="6515100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3 of 9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628602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3200102"/>
            <a:ext cx="46755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Inter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543002"/>
            <a:ext cx="4452937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CBD5E1"/>
                </a:solidFill>
                <a:latin typeface="Inter"/>
              </a:rPr>
              <a:t>To design and simulate a fundamental </a:t>
            </a:r>
            <a:r>
              <a:rPr sz="1087" b="1" i="0" u="none">
                <a:solidFill>
                  <a:srgbClr val="CBD5E1"/>
                </a:solidFill>
                <a:latin typeface="Inter"/>
              </a:rPr>
              <a:t>digital traffic signal decision system</a:t>
            </a:r>
            <a:r>
              <a:rPr sz="1087" b="0" i="0" u="none">
                <a:solidFill>
                  <a:srgbClr val="CBD5E1"/>
                </a:solidFill>
                <a:latin typeface="Inter"/>
              </a:rPr>
              <a:t> that takes binary inputs from road vehicle sensors and yields optimized green/red output decisions through logic gates.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2733377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4875" y="4472285"/>
            <a:ext cx="4119562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94A3B8"/>
                </a:solidFill>
                <a:latin typeface="Inter"/>
              </a:rPr>
              <a:t>Focus: Demonstrating foundational 1st-year DDCA concepts using pure combinational logic design techniques.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43587" y="2552402"/>
            <a:ext cx="2621756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43587" y="2838152"/>
            <a:ext cx="275284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1. Sensor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3587" y="3095327"/>
            <a:ext cx="2621756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94A3B8"/>
                </a:solidFill>
                <a:latin typeface="Inter"/>
              </a:rPr>
              <a:t>Represent traffic presence on intersecting roads using binary logic variables (A, B).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22543" y="2552402"/>
            <a:ext cx="2621756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22543" y="2838152"/>
            <a:ext cx="275284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2. Logic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2543" y="3095327"/>
            <a:ext cx="2621756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94A3B8"/>
                </a:solidFill>
                <a:latin typeface="Inter"/>
              </a:rPr>
              <a:t>Construct truth tables mapping all possible traffic input combinations to signal outputs.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3587" y="4014787"/>
            <a:ext cx="2621756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3587" y="4300537"/>
            <a:ext cx="275284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3. Boolean Expressions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3587" y="4557712"/>
            <a:ext cx="2621756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94A3B8"/>
                </a:solidFill>
                <a:latin typeface="Inter"/>
              </a:rPr>
              <a:t>Derive simplified algebraic equations ($G_A, G_B$) for optimal decision rules.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22543" y="4014787"/>
            <a:ext cx="2621756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22543" y="4300537"/>
            <a:ext cx="275284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4. Gate 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2543" y="4557712"/>
            <a:ext cx="2621756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94A3B8"/>
                </a:solidFill>
                <a:latin typeface="Inter"/>
              </a:rPr>
              <a:t>Implement and verify logic circuits using standardized simulation tools (e.g., Logisim).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775" y="428625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Problem Statement &amp; Objectives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5775" y="91440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76500"/>
            <a:ext cx="11220450" cy="17668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471987"/>
            <a:ext cx="11220450" cy="10525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771775"/>
            <a:ext cx="2436018" cy="11763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293" y="2771775"/>
            <a:ext cx="2436018" cy="11763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687" y="2771775"/>
            <a:ext cx="2436018" cy="11763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2081" y="2771775"/>
            <a:ext cx="2436018" cy="11763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2047875"/>
            <a:ext cx="112204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High-level block diagram showing signal processing flow from physical road detection inputs to final light indicators: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6150" y="6515100"/>
            <a:ext cx="600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4 of 9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4218" y="3274218"/>
            <a:ext cx="1047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3612" y="3274218"/>
            <a:ext cx="104775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3006" y="3274218"/>
            <a:ext cx="1047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9034" y="2933700"/>
            <a:ext cx="2857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3015" y="3238500"/>
            <a:ext cx="229778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Traffic Sensors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457575"/>
            <a:ext cx="2188368" cy="328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94A3B8"/>
                </a:solidFill>
                <a:latin typeface="Inter"/>
              </a:rPr>
              <a:t>Vehicle Detectors</a:t>
            </a:r>
            <a:r>
              <a:t>
</a:t>
            </a:r>
            <a:r>
              <a:rPr sz="862" b="0" i="0" u="none">
                <a:solidFill>
                  <a:srgbClr val="94A3B8"/>
                </a:solidFill>
                <a:latin typeface="Inter"/>
              </a:rPr>
              <a:t> Road A (A), Road B (B)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7003" y="2933700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62409" y="3238500"/>
            <a:ext cx="229778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Input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7118" y="3457575"/>
            <a:ext cx="2188368" cy="328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94A3B8"/>
                </a:solidFill>
                <a:latin typeface="Inter"/>
              </a:rPr>
              <a:t>Clean binary conversion</a:t>
            </a:r>
            <a:r>
              <a:t>
</a:t>
            </a:r>
            <a:r>
              <a:rPr sz="862" b="0" i="0" u="none">
                <a:solidFill>
                  <a:srgbClr val="94A3B8"/>
                </a:solidFill>
                <a:latin typeface="Inter"/>
              </a:rPr>
              <a:t> (0 = Clear, 1 = Traffic)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396" y="2933700"/>
            <a:ext cx="22860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31803" y="3238500"/>
            <a:ext cx="229778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Decision Circuit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6512" y="3457575"/>
            <a:ext cx="2188368" cy="328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94A3B8"/>
                </a:solidFill>
                <a:latin typeface="Inter"/>
              </a:rPr>
              <a:t>Combinational Logic</a:t>
            </a:r>
            <a:r>
              <a:t>
</a:t>
            </a:r>
            <a:r>
              <a:rPr sz="862" b="0" i="0" u="none">
                <a:solidFill>
                  <a:srgbClr val="94A3B8"/>
                </a:solidFill>
                <a:latin typeface="Inter"/>
              </a:rPr>
              <a:t> (AND, NOT Gates)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78653" y="2933700"/>
            <a:ext cx="142875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01197" y="3238500"/>
            <a:ext cx="229778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Signal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55906" y="3457575"/>
            <a:ext cx="2188368" cy="3286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sz="862" b="0" i="0" u="none">
                <a:solidFill>
                  <a:srgbClr val="94A3B8"/>
                </a:solidFill>
                <a:latin typeface="Inter"/>
              </a:rPr>
              <a:t>Road A Green ($G_A$)</a:t>
            </a:r>
            <a:r>
              <a:t>
</a:t>
            </a:r>
            <a:r>
              <a:rPr sz="862" b="0" i="0" u="none">
                <a:solidFill>
                  <a:srgbClr val="94A3B8"/>
                </a:solidFill>
                <a:latin typeface="Inter"/>
              </a:rPr>
              <a:t> Road B Green ($G_B$)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" y="4710112"/>
            <a:ext cx="5540692" cy="1619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Combinational Design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929187"/>
            <a:ext cx="5276850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CBD5E1"/>
                </a:solidFill>
                <a:latin typeface="Inter"/>
              </a:rPr>
              <a:t>The system operates entirely as a </a:t>
            </a:r>
            <a:r>
              <a:rPr sz="937" b="1" i="0" u="none">
                <a:solidFill>
                  <a:srgbClr val="CBD5E1"/>
                </a:solidFill>
                <a:latin typeface="Inter"/>
              </a:rPr>
              <a:t>memoryless decision circuit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. Outputs react instantly to input changes without internal state storage or feedback loops.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250" y="4710112"/>
            <a:ext cx="5540692" cy="16192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Inter"/>
              </a:rPr>
              <a:t>Practical Scope Boundary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1250" y="4929187"/>
            <a:ext cx="5276850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CBD5E1"/>
                </a:solidFill>
                <a:latin typeface="Inter"/>
              </a:rPr>
              <a:t>Demonstrates the </a:t>
            </a:r>
            <a:r>
              <a:rPr sz="937" b="0" i="1" u="none">
                <a:solidFill>
                  <a:srgbClr val="CBD5E1"/>
                </a:solidFill>
                <a:latin typeface="Inter"/>
              </a:rPr>
              <a:t>decision stage</a:t>
            </a:r>
            <a:r>
              <a:rPr sz="937" b="0" i="0" u="none">
                <a:solidFill>
                  <a:srgbClr val="CBD5E1"/>
                </a:solidFill>
                <a:latin typeface="Inter"/>
              </a:rPr>
              <a:t>. Full deployment in real infrastructure requires secondary timer sequencing and interlocking relays for safety.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3900" y="4729162"/>
            <a:ext cx="13335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1250" y="4729162"/>
            <a:ext cx="133350" cy="1333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5775" y="428625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System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5775" y="91440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278856"/>
            <a:ext cx="5495925" cy="15097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960018"/>
            <a:ext cx="5495925" cy="133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2278856"/>
            <a:ext cx="5495925" cy="30146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4664868"/>
            <a:ext cx="5019675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15675" y="6515100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5 of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516981"/>
            <a:ext cx="5270658" cy="1905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Core Working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802731"/>
            <a:ext cx="501967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A </a:t>
            </a:r>
            <a:r>
              <a:rPr sz="1012" b="1" i="0" u="none">
                <a:solidFill>
                  <a:srgbClr val="CBD5E1"/>
                </a:solidFill>
                <a:latin typeface="Inter"/>
              </a:rPr>
              <a:t>combinational logic circuit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is a digital circuit whose output at any instant is determined solely by the current combination of inputs.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4198143"/>
            <a:ext cx="5270658" cy="1905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Inter"/>
              </a:rPr>
              <a:t>Sample Decision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683918"/>
            <a:ext cx="50196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Road A receives a Green signal decision ($G_A=1$) </a:t>
            </a:r>
            <a:r>
              <a:rPr sz="975" b="1" i="0" u="none">
                <a:solidFill>
                  <a:srgbClr val="94A3B8"/>
                </a:solidFill>
                <a:latin typeface="Inter"/>
              </a:rPr>
              <a:t>if and only if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traffic is detected on Road A ($A=1$) AND no traffic is detected on Road B ($B=0$).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536031"/>
            <a:ext cx="1905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302793"/>
            <a:ext cx="14287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7900" y="3302793"/>
            <a:ext cx="10953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8525" y="3302793"/>
            <a:ext cx="13906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217193"/>
            <a:ext cx="1905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4502943"/>
            <a:ext cx="1133623" cy="1769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48425" y="2516981"/>
            <a:ext cx="5270658" cy="1905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Inter"/>
              </a:rPr>
              <a:t>Safety &amp; Conflict Rules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2536031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7500" y="2821781"/>
            <a:ext cx="48006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Mutual Exclusion: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Both intersecting roads must never receive a green signal simultaneously ($G_A \cdot G_B = 0$).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3307556"/>
            <a:ext cx="48006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Default Safety Red: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If both roads report vehicle traffic simultaneously ($A=1, B=1$), the basic decision model defaults signals to RED to prevent collision.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0" y="3793331"/>
            <a:ext cx="48006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CBD5E1"/>
                </a:solidFill>
                <a:latin typeface="Inter"/>
              </a:rPr>
              <a:t>Emergency Priority ($E$):</a:t>
            </a:r>
            <a:r>
              <a:rPr sz="975" b="0" i="0" u="none">
                <a:solidFill>
                  <a:srgbClr val="CBD5E1"/>
                </a:solidFill>
                <a:latin typeface="Inter"/>
              </a:rPr>
              <a:t> Can be integrated via OR-override gates to force green for priority vehicles.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2845593"/>
            <a:ext cx="123825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331368"/>
            <a:ext cx="123825" cy="1333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817143"/>
            <a:ext cx="123825" cy="1333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5775" y="428625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Combinational Logic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5775" y="91440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725" y="2391816"/>
            <a:ext cx="4381500" cy="21029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2906166"/>
            <a:ext cx="3905250" cy="6276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3629025"/>
            <a:ext cx="3905250" cy="6276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5675" y="6515100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6 of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2627709"/>
            <a:ext cx="6572250" cy="192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94A3B8"/>
                </a:solidFill>
                <a:latin typeface="Inter"/>
              </a:rPr>
              <a:t>Truth Table for Two-Road Intersection Decision Logic ($A, B$ Inputs vs $G_A, G_B$ Outputs):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5775" y="2934890"/>
            <a:ext cx="6572250" cy="2009775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5775" y="2934890"/>
          <a:ext cx="6562721" cy="2009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4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7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9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A (Road 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B (Road 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GA (Green 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GB (Green 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38BDF8"/>
                          </a:solidFill>
                          <a:latin typeface="Inter"/>
                        </a:rPr>
                        <a:t>System Action /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No traffic (Both Red)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Traffic on B (Green 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Traffic on A (Green 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E2E8F0"/>
                          </a:solidFill>
                          <a:latin typeface="Inter"/>
                        </a:rPr>
                        <a:t>Conflict (Safety Red)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90537" y="3330178"/>
            <a:ext cx="10696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60165" y="3330178"/>
            <a:ext cx="10437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03896" y="3330178"/>
            <a:ext cx="12504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54350" y="3330178"/>
            <a:ext cx="1229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84117" y="3330178"/>
            <a:ext cx="19691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850" y="2629941"/>
            <a:ext cx="4100512" cy="18097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Boolean Expressions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8550" y="4790033"/>
            <a:ext cx="85725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00950" y="4770983"/>
            <a:ext cx="4095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CBD5E1"/>
                </a:solidFill>
                <a:latin typeface="Inter"/>
              </a:rPr>
              <a:t>Insight: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537" y="3730228"/>
            <a:ext cx="10696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60165" y="3730228"/>
            <a:ext cx="10437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03896" y="3730228"/>
            <a:ext cx="12504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54350" y="3730228"/>
            <a:ext cx="1229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84117" y="3730228"/>
            <a:ext cx="19691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0537" y="4130278"/>
            <a:ext cx="10696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560165" y="4130278"/>
            <a:ext cx="10437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03896" y="4130278"/>
            <a:ext cx="12504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54350" y="4130278"/>
            <a:ext cx="1229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84117" y="4130278"/>
            <a:ext cx="19691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0537" y="4530328"/>
            <a:ext cx="10696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560165" y="4530328"/>
            <a:ext cx="10437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03896" y="4530328"/>
            <a:ext cx="12504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854350" y="4530328"/>
            <a:ext cx="1229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84117" y="4530328"/>
            <a:ext cx="19691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90537" y="4930378"/>
            <a:ext cx="10696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560165" y="4930378"/>
            <a:ext cx="104373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603896" y="4930378"/>
            <a:ext cx="12504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854350" y="4930378"/>
            <a:ext cx="12297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84117" y="4930378"/>
            <a:ext cx="19691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850" y="2648991"/>
            <a:ext cx="161925" cy="1428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677150" y="3020466"/>
            <a:ext cx="3676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Road A Signal Equation: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7150" y="3743325"/>
            <a:ext cx="3676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Road B Signal Equation: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7150" y="3191916"/>
            <a:ext cx="920501" cy="223539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7150" y="3914775"/>
            <a:ext cx="913060" cy="22353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85775" y="428625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Truth Table &amp; Expressions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5775" y="91440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967037"/>
            <a:ext cx="661794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4215" y="3201590"/>
            <a:ext cx="4412009" cy="19121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0517" y="3271837"/>
            <a:ext cx="1238398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0517" y="3957637"/>
            <a:ext cx="1238398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0517" y="4643437"/>
            <a:ext cx="1238398" cy="400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5675" y="6515100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7 of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775" y="2224087"/>
            <a:ext cx="2719387" cy="5524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125" y="2338387"/>
            <a:ext cx="2452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Step 1: Input Toggle</a:t>
            </a:r>
            <a:r>
              <a:rPr sz="975" b="0" i="0" u="none">
                <a:solidFill>
                  <a:srgbClr val="F8FAFC"/>
                </a:solidFill>
                <a:latin typeface="Inter"/>
              </a:rPr>
              <a:t> Binary Sensor Signals ($A, B$)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5775" y="2224087"/>
            <a:ext cx="28575" cy="552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9462" y="2224087"/>
            <a:ext cx="2719387" cy="5524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52812" y="2338387"/>
            <a:ext cx="2452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Step 2: Signal Inversion</a:t>
            </a:r>
            <a:r>
              <a:rPr sz="975" b="0" i="0" u="none">
                <a:solidFill>
                  <a:srgbClr val="F8FAFC"/>
                </a:solidFill>
                <a:latin typeface="Inter"/>
              </a:rPr>
              <a:t> NOT Gates ($\neg A, \neg B$)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462" y="2224087"/>
            <a:ext cx="28575" cy="552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53150" y="2224087"/>
            <a:ext cx="2719387" cy="5524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6500" y="2338387"/>
            <a:ext cx="2452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Step 3: Logic Decision</a:t>
            </a:r>
            <a:r>
              <a:rPr sz="975" b="0" i="0" u="none">
                <a:solidFill>
                  <a:srgbClr val="F8FAFC"/>
                </a:solidFill>
                <a:latin typeface="Inter"/>
              </a:rPr>
              <a:t> 2-Input AND Gates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150" y="2224087"/>
            <a:ext cx="28575" cy="552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86837" y="2224087"/>
            <a:ext cx="2719387" cy="5524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20187" y="2338387"/>
            <a:ext cx="245268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FAFC"/>
                </a:solidFill>
                <a:latin typeface="Inter"/>
              </a:rPr>
              <a:t>Step 4: Output Display</a:t>
            </a:r>
            <a:r>
              <a:rPr sz="975" b="0" i="0" u="none">
                <a:solidFill>
                  <a:srgbClr val="F8FAFC"/>
                </a:solidFill>
                <a:latin typeface="Inter"/>
              </a:rPr>
              <a:t> Green / Red Light LEDs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86837" y="2224087"/>
            <a:ext cx="28575" cy="5524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2340" y="3439715"/>
            <a:ext cx="4132547" cy="1809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Inter"/>
              </a:rPr>
              <a:t>Simulation Environment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2340" y="3715940"/>
            <a:ext cx="3935759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CBD5E1"/>
                </a:solidFill>
                <a:latin typeface="Inter"/>
              </a:rPr>
              <a:t>The circuit design can be simulated and verified using standard schematic software: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8151" y="3824287"/>
            <a:ext cx="8175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38BDF8"/>
                </a:solidFill>
                <a:latin typeface="monospace"/>
              </a:rPr>
              <a:t>INPUT A =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8151" y="4348162"/>
            <a:ext cx="8175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75" b="0" i="0" u="none">
                <a:solidFill>
                  <a:srgbClr val="38BDF8"/>
                </a:solidFill>
                <a:latin typeface="monospace"/>
              </a:rPr>
              <a:t>INPUT B 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3769" y="3805237"/>
            <a:ext cx="1267122" cy="1619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4D399"/>
                </a:solidFill>
                <a:latin typeface="monospace"/>
              </a:rPr>
              <a:t>GA = 1 (GREEN)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3769" y="4348162"/>
            <a:ext cx="1267122" cy="1619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monospace"/>
              </a:rPr>
              <a:t>GB = 0 (RED)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2340" y="3458765"/>
            <a:ext cx="180975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32340" y="4187428"/>
            <a:ext cx="3935759" cy="178593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94A3B8"/>
                </a:solidFill>
                <a:latin typeface="Inter"/>
              </a:rPr>
              <a:t>Logisim / Logisim Evolution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(Educational schematic tool)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2340" y="4442221"/>
            <a:ext cx="3935759" cy="178593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94A3B8"/>
                </a:solidFill>
                <a:latin typeface="Inter"/>
              </a:rPr>
              <a:t>Proteus PCB &amp; VSM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(Hardware simulation)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2340" y="4697015"/>
            <a:ext cx="3935759" cy="178593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1" i="0" u="none">
                <a:solidFill>
                  <a:srgbClr val="94A3B8"/>
                </a:solidFill>
                <a:latin typeface="Inter"/>
              </a:rPr>
              <a:t>Digital by HNeemann</a:t>
            </a:r>
            <a:r>
              <a:rPr sz="937" b="0" i="0" u="none">
                <a:solidFill>
                  <a:srgbClr val="94A3B8"/>
                </a:solidFill>
                <a:latin typeface="Inter"/>
              </a:rPr>
              <a:t> (Fast digital logic simulator)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3769" y="3805237"/>
            <a:ext cx="1524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3769" y="4348162"/>
            <a:ext cx="152400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2340" y="4213621"/>
            <a:ext cx="104775" cy="1238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2340" y="4468415"/>
            <a:ext cx="104775" cy="1238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2340" y="4723209"/>
            <a:ext cx="104775" cy="12382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5775" y="428625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Circuit &amp; Simulation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5775" y="91440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14575"/>
            <a:ext cx="11220450" cy="131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010025"/>
            <a:ext cx="2690812" cy="1247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987" y="4010025"/>
            <a:ext cx="2690812" cy="1247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010025"/>
            <a:ext cx="2690812" cy="1247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412" y="4010025"/>
            <a:ext cx="2690812" cy="1247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857500"/>
            <a:ext cx="2600325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525" y="2857500"/>
            <a:ext cx="2600325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2857500"/>
            <a:ext cx="2600325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7775" y="2857500"/>
            <a:ext cx="2600325" cy="533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15675" y="6515100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8 of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11281410" cy="1905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Verification Matrix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571750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1643" y="4191000"/>
            <a:ext cx="21907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8523" y="4533900"/>
            <a:ext cx="252531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Zero Processing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" y="4733925"/>
            <a:ext cx="24050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Instant gate propagation response without software execution lag.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0568" y="4191000"/>
            <a:ext cx="247650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11735" y="4533900"/>
            <a:ext cx="252531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Low Implementation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1862" y="4733925"/>
            <a:ext cx="24050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Requires minimal hardware components (Standard 74xx IC gates).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93781" y="4191000"/>
            <a:ext cx="247650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54948" y="4533900"/>
            <a:ext cx="252531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High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075" y="4733925"/>
            <a:ext cx="24050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Immune to software crashes, operating system freezes, or memory leaks.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03656" y="4191000"/>
            <a:ext cx="314325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98160" y="4533900"/>
            <a:ext cx="252531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Inter"/>
              </a:rPr>
              <a:t>Educational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8287" y="4733925"/>
            <a:ext cx="24050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Ideal baseline model for understanding foundational digital logic concepts.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3300" y="2962275"/>
            <a:ext cx="2390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37" b="0" i="0" u="none">
                <a:solidFill>
                  <a:srgbClr val="34D399"/>
                </a:solidFill>
                <a:latin typeface="Inter"/>
              </a:rPr>
              <a:t>Test Case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5281" y="3143250"/>
            <a:ext cx="11668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37" b="1" i="0" u="none">
                <a:solidFill>
                  <a:srgbClr val="FFFFFF"/>
                </a:solidFill>
                <a:latin typeface="Inter"/>
              </a:rPr>
              <a:t>A=1, B=0 → $G_A=1$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7925" y="2962275"/>
            <a:ext cx="23907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37" b="0" i="0" u="none">
                <a:solidFill>
                  <a:srgbClr val="34D399"/>
                </a:solidFill>
                <a:latin typeface="Inter"/>
              </a:rPr>
              <a:t>Test Case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9906" y="3143250"/>
            <a:ext cx="11668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37" b="1" i="0" u="none">
                <a:solidFill>
                  <a:srgbClr val="FFFFFF"/>
                </a:solidFill>
                <a:latin typeface="Inter"/>
              </a:rPr>
              <a:t>A=0, B=1 → $G_B=1$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775" y="428625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Results &amp; Key Advantages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5775" y="91440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760714"/>
            <a:ext cx="11220450" cy="847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963935"/>
            <a:ext cx="5495925" cy="15942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963935"/>
            <a:ext cx="5495925" cy="1524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036814"/>
            <a:ext cx="363855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6725" y="4036814"/>
            <a:ext cx="363855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7675" y="4036814"/>
            <a:ext cx="363855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6410325"/>
            <a:ext cx="112204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3748682"/>
            <a:ext cx="11220450" cy="192881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8BDF8"/>
                </a:solidFill>
                <a:latin typeface="Inter SemiBold"/>
              </a:rPr>
              <a:t>Future Scope &amp; Enhancements: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6515100"/>
            <a:ext cx="2562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Digital Design &amp; Computer Architecture (DDCA)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5675" y="6515100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9 of 9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3786782"/>
            <a:ext cx="133350" cy="1285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" y="5236964"/>
            <a:ext cx="10744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BD5E1"/>
                </a:solidFill>
                <a:latin typeface="Poppins"/>
              </a:rPr>
              <a:t>Thank You! Questions &amp; Discussion Welcome.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202060"/>
            <a:ext cx="5270658" cy="2000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4D399"/>
                </a:solidFill>
                <a:latin typeface="Inter"/>
              </a:rPr>
              <a:t>Project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2497335"/>
            <a:ext cx="5019675" cy="822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CBD5E1"/>
                </a:solidFill>
                <a:latin typeface="Inter"/>
              </a:rPr>
              <a:t>This project successfully demonstrates how </a:t>
            </a:r>
            <a:r>
              <a:rPr sz="1012" b="1" i="0" u="none">
                <a:solidFill>
                  <a:srgbClr val="CBD5E1"/>
                </a:solidFill>
                <a:latin typeface="Inter"/>
              </a:rPr>
              <a:t>combinational logic design principles</a:t>
            </a:r>
            <a:r>
              <a:rPr sz="1012" b="0" i="0" u="none">
                <a:solidFill>
                  <a:srgbClr val="CBD5E1"/>
                </a:solidFill>
                <a:latin typeface="Inter"/>
              </a:rPr>
              <a:t> can be applied to build an intelligent, responsive traffic signal decision system. Binary Boolean expressions accurately model real-world road priorities and verify seamlessly in software simulation.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9825" y="1973460"/>
            <a:ext cx="5476875" cy="1504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2221110"/>
            <a:ext cx="15240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75" y="428625"/>
            <a:ext cx="11706225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775" y="91440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2047F6-CB26-31DC-2787-B11A71DEF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74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1044</Words>
  <Application>Microsoft Office PowerPoint</Application>
  <PresentationFormat>Widescreen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monospace</vt:lpstr>
      <vt:lpstr>monospace SemiBold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B.Revanth Kumar</cp:lastModifiedBy>
  <cp:revision>2</cp:revision>
  <dcterms:created xsi:type="dcterms:W3CDTF">2013-01-27T09:14:16Z</dcterms:created>
  <dcterms:modified xsi:type="dcterms:W3CDTF">2026-09-19T09:12:48Z</dcterms:modified>
  <cp:category/>
</cp:coreProperties>
</file>